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71100" cy="7556500"/>
  <p:notesSz cx="100711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40170" y="676857"/>
            <a:ext cx="566329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0665" y="4231640"/>
            <a:ext cx="704977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071100" cy="7556500"/>
          </a:xfrm>
          <a:custGeom>
            <a:avLst/>
            <a:gdLst/>
            <a:ahLst/>
            <a:cxnLst/>
            <a:rect l="l" t="t" r="r" b="b"/>
            <a:pathLst>
              <a:path w="10071100" h="7556500">
                <a:moveTo>
                  <a:pt x="10071099" y="7556499"/>
                </a:moveTo>
                <a:lnTo>
                  <a:pt x="0" y="7556499"/>
                </a:lnTo>
                <a:lnTo>
                  <a:pt x="0" y="0"/>
                </a:lnTo>
                <a:lnTo>
                  <a:pt x="10071099" y="0"/>
                </a:lnTo>
                <a:lnTo>
                  <a:pt x="10071099" y="7556499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3555" y="1737995"/>
            <a:ext cx="4380928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6616" y="1737995"/>
            <a:ext cx="4380928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071100" cy="7556500"/>
          </a:xfrm>
          <a:custGeom>
            <a:avLst/>
            <a:gdLst/>
            <a:ahLst/>
            <a:cxnLst/>
            <a:rect l="l" t="t" r="r" b="b"/>
            <a:pathLst>
              <a:path w="10071100" h="7556500">
                <a:moveTo>
                  <a:pt x="10071099" y="7556499"/>
                </a:moveTo>
                <a:lnTo>
                  <a:pt x="0" y="7556499"/>
                </a:lnTo>
                <a:lnTo>
                  <a:pt x="0" y="0"/>
                </a:lnTo>
                <a:lnTo>
                  <a:pt x="10071099" y="0"/>
                </a:lnTo>
                <a:lnTo>
                  <a:pt x="10071099" y="7556499"/>
                </a:lnTo>
              </a:path>
            </a:pathLst>
          </a:custGeom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5536" y="676857"/>
            <a:ext cx="38123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36" y="1405406"/>
            <a:ext cx="5824855" cy="1878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4174" y="7027545"/>
            <a:ext cx="322275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3555" y="7027545"/>
            <a:ext cx="2316353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126414" y="7299566"/>
            <a:ext cx="319659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6E6F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#</a:t>
            </a:fld>
            <a:r>
              <a:rPr dirty="0" spc="-25"/>
              <a:t>)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270750"/>
            <a:ext cx="10071100" cy="285750"/>
            <a:chOff x="0" y="7270750"/>
            <a:chExt cx="10071100" cy="285750"/>
          </a:xfrm>
        </p:grpSpPr>
        <p:sp>
          <p:nvSpPr>
            <p:cNvPr id="3" name="object 3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899" y="1270"/>
                  </a:moveTo>
                  <a:lnTo>
                    <a:pt x="2520607" y="1270"/>
                  </a:lnTo>
                  <a:lnTo>
                    <a:pt x="2520607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899" y="285737"/>
                  </a:lnTo>
                  <a:lnTo>
                    <a:pt x="2520899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539750" y="1208068"/>
            <a:ext cx="8964930" cy="2428875"/>
          </a:xfrm>
          <a:custGeom>
            <a:avLst/>
            <a:gdLst/>
            <a:ahLst/>
            <a:cxnLst/>
            <a:rect l="l" t="t" r="r" b="b"/>
            <a:pathLst>
              <a:path w="8964930" h="2428875">
                <a:moveTo>
                  <a:pt x="8963294" y="2428800"/>
                </a:moveTo>
                <a:lnTo>
                  <a:pt x="1304" y="2428800"/>
                </a:lnTo>
                <a:lnTo>
                  <a:pt x="0" y="2427494"/>
                </a:lnTo>
                <a:lnTo>
                  <a:pt x="0" y="2914"/>
                </a:lnTo>
                <a:lnTo>
                  <a:pt x="0" y="1304"/>
                </a:lnTo>
                <a:lnTo>
                  <a:pt x="1304" y="0"/>
                </a:lnTo>
                <a:lnTo>
                  <a:pt x="8962458" y="0"/>
                </a:lnTo>
                <a:lnTo>
                  <a:pt x="8963199" y="307"/>
                </a:lnTo>
                <a:lnTo>
                  <a:pt x="8963745" y="853"/>
                </a:lnTo>
                <a:lnTo>
                  <a:pt x="8964292" y="1400"/>
                </a:lnTo>
                <a:lnTo>
                  <a:pt x="8964599" y="2141"/>
                </a:lnTo>
                <a:lnTo>
                  <a:pt x="8964599" y="2427494"/>
                </a:lnTo>
                <a:lnTo>
                  <a:pt x="8963294" y="242880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85763" y="1671518"/>
            <a:ext cx="7084695" cy="11493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9655">
              <a:lnSpc>
                <a:spcPct val="115199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Unidade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0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-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Nivelamento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0" b="1">
                <a:latin typeface="Arial"/>
                <a:cs typeface="Arial"/>
              </a:rPr>
              <a:t>- </a:t>
            </a:r>
            <a:r>
              <a:rPr dirty="0" sz="3200" b="1">
                <a:latin typeface="Arial"/>
                <a:cs typeface="Arial"/>
              </a:rPr>
              <a:t>Introdução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a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Orientação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por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Objetos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56" y="5099073"/>
            <a:ext cx="2305049" cy="20383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85273" y="6286138"/>
            <a:ext cx="4767580" cy="6159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300"/>
              </a:spcBef>
            </a:pPr>
            <a:r>
              <a:rPr dirty="0" sz="2000">
                <a:latin typeface="Arial MT"/>
                <a:cs typeface="Arial MT"/>
              </a:rPr>
              <a:t>Instituto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Ciências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Exatas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Informática </a:t>
            </a:r>
            <a:r>
              <a:rPr dirty="0" sz="2000">
                <a:latin typeface="Arial MT"/>
                <a:cs typeface="Arial MT"/>
              </a:rPr>
              <a:t>Departamento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Ciência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Computação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405406"/>
            <a:ext cx="7560309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 spc="-10">
                <a:latin typeface="Arial MT"/>
                <a:cs typeface="Arial MT"/>
              </a:rPr>
              <a:t>Reaproveitamento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código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(produtividade)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Fazer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resumo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seções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3.1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à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3.7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8.1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à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8.7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51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Motivação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36" y="1405406"/>
            <a:ext cx="6591300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Classe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é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tipo,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conjunto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regras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Objeto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é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variável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643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Definições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36" y="1405406"/>
            <a:ext cx="8094980" cy="473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inicializar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atributos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77800" indent="-165100">
              <a:lnSpc>
                <a:spcPct val="100000"/>
              </a:lnSpc>
              <a:buSzPct val="69642"/>
              <a:buFont typeface="Times New Roman"/>
              <a:buChar char="•"/>
              <a:tabLst>
                <a:tab pos="177800" algn="l"/>
              </a:tabLst>
            </a:pPr>
            <a:r>
              <a:rPr dirty="0" sz="2800">
                <a:latin typeface="Arial MT"/>
                <a:cs typeface="Arial MT"/>
              </a:rPr>
              <a:t>Apresenta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mesmo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nome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Não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apresenta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retorno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Sempre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será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público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Método</a:t>
            </a:r>
            <a:r>
              <a:rPr dirty="0" spc="-40"/>
              <a:t> </a:t>
            </a:r>
            <a:r>
              <a:rPr dirty="0" spc="-10"/>
              <a:t>Construtor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036" y="1405406"/>
            <a:ext cx="25812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Ver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código</a:t>
            </a:r>
            <a:r>
              <a:rPr dirty="0" sz="2800" spc="-1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em: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79675" y="2831107"/>
            <a:ext cx="2688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3333CC"/>
                </a:solidFill>
                <a:latin typeface="Arial MT"/>
                <a:cs typeface="Arial MT"/>
              </a:rPr>
              <a:t>./primeiraClasse/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72135">
              <a:lnSpc>
                <a:spcPct val="100000"/>
              </a:lnSpc>
              <a:spcBef>
                <a:spcPts val="100"/>
              </a:spcBef>
            </a:pPr>
            <a:r>
              <a:rPr dirty="0"/>
              <a:t>Primeira</a:t>
            </a:r>
            <a:r>
              <a:rPr dirty="0" spc="-40"/>
              <a:t> </a:t>
            </a:r>
            <a:r>
              <a:rPr dirty="0" spc="-10"/>
              <a:t>Classe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36" y="1193951"/>
            <a:ext cx="9043035" cy="1301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5080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Seja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Lixão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abaixo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Funcionário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exemplo anterior,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faça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quadro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memória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para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código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abaixo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01800" y="676857"/>
            <a:ext cx="1905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Exercício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82593" y="3495919"/>
            <a:ext cx="8716010" cy="2570480"/>
          </a:xfrm>
          <a:prstGeom prst="rect">
            <a:avLst/>
          </a:prstGeom>
          <a:solidFill>
            <a:srgbClr val="F1F1F1"/>
          </a:solidFill>
          <a:ln w="9524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542925">
              <a:lnSpc>
                <a:spcPct val="100000"/>
              </a:lnSpc>
              <a:spcBef>
                <a:spcPts val="204"/>
              </a:spcBef>
            </a:pPr>
            <a:r>
              <a:rPr dirty="0" sz="2300" b="1">
                <a:solidFill>
                  <a:srgbClr val="00B050"/>
                </a:solidFill>
                <a:latin typeface="Arial"/>
                <a:cs typeface="Arial"/>
              </a:rPr>
              <a:t>class</a:t>
            </a:r>
            <a:r>
              <a:rPr dirty="0" sz="2300" spc="-2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300" spc="-10">
                <a:latin typeface="Arial MT"/>
                <a:cs typeface="Arial MT"/>
              </a:rPr>
              <a:t>Lixao{</a:t>
            </a:r>
            <a:endParaRPr sz="2300">
              <a:latin typeface="Arial MT"/>
              <a:cs typeface="Arial MT"/>
            </a:endParaRPr>
          </a:p>
          <a:p>
            <a:pPr marL="1457325" marR="2746375" indent="-457200">
              <a:lnSpc>
                <a:spcPct val="100499"/>
              </a:lnSpc>
              <a:spcBef>
                <a:spcPts val="5"/>
              </a:spcBef>
            </a:pPr>
            <a:r>
              <a:rPr dirty="0" sz="2300" b="1">
                <a:solidFill>
                  <a:srgbClr val="00B050"/>
                </a:solidFill>
                <a:latin typeface="Arial"/>
                <a:cs typeface="Arial"/>
              </a:rPr>
              <a:t>public</a:t>
            </a:r>
            <a:r>
              <a:rPr dirty="0" sz="23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B050"/>
                </a:solidFill>
                <a:latin typeface="Arial"/>
                <a:cs typeface="Arial"/>
              </a:rPr>
              <a:t>static</a:t>
            </a:r>
            <a:r>
              <a:rPr dirty="0" sz="2300" spc="-3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B050"/>
                </a:solidFill>
                <a:latin typeface="Arial"/>
                <a:cs typeface="Arial"/>
              </a:rPr>
              <a:t>void</a:t>
            </a:r>
            <a:r>
              <a:rPr dirty="0" sz="2300" spc="-2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300">
                <a:latin typeface="Arial MT"/>
                <a:cs typeface="Arial MT"/>
              </a:rPr>
              <a:t>main(String[]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args){ </a:t>
            </a:r>
            <a:r>
              <a:rPr dirty="0" sz="2300">
                <a:latin typeface="Arial MT"/>
                <a:cs typeface="Arial MT"/>
              </a:rPr>
              <a:t>Funcionario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f1;</a:t>
            </a:r>
            <a:endParaRPr sz="2300">
              <a:latin typeface="Arial MT"/>
              <a:cs typeface="Arial MT"/>
            </a:endParaRPr>
          </a:p>
          <a:p>
            <a:pPr marL="1457325" marR="4061460">
              <a:lnSpc>
                <a:spcPct val="100499"/>
              </a:lnSpc>
            </a:pPr>
            <a:r>
              <a:rPr dirty="0" sz="2300">
                <a:latin typeface="Arial MT"/>
                <a:cs typeface="Arial MT"/>
              </a:rPr>
              <a:t>f1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=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b="1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dirty="0" sz="23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spc="-10">
                <a:latin typeface="Arial MT"/>
                <a:cs typeface="Arial MT"/>
              </a:rPr>
              <a:t>Funcionario(); </a:t>
            </a:r>
            <a:r>
              <a:rPr dirty="0" sz="2300">
                <a:latin typeface="Arial MT"/>
                <a:cs typeface="Arial MT"/>
              </a:rPr>
              <a:t>f1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=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b="1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dirty="0" sz="23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300" spc="-10">
                <a:latin typeface="Arial MT"/>
                <a:cs typeface="Arial MT"/>
              </a:rPr>
              <a:t>Funcionario(</a:t>
            </a:r>
            <a:r>
              <a:rPr dirty="0" sz="2300" spc="-10" b="1">
                <a:solidFill>
                  <a:srgbClr val="FF66CC"/>
                </a:solidFill>
                <a:latin typeface="Arial"/>
                <a:cs typeface="Arial"/>
              </a:rPr>
              <a:t>5</a:t>
            </a:r>
            <a:r>
              <a:rPr dirty="0" sz="2300" spc="-10">
                <a:latin typeface="Arial MT"/>
                <a:cs typeface="Arial MT"/>
              </a:rPr>
              <a:t>);</a:t>
            </a:r>
            <a:endParaRPr sz="2300">
              <a:latin typeface="Arial MT"/>
              <a:cs typeface="Arial MT"/>
            </a:endParaRPr>
          </a:p>
          <a:p>
            <a:pPr marL="1000125">
              <a:lnSpc>
                <a:spcPct val="100000"/>
              </a:lnSpc>
              <a:spcBef>
                <a:spcPts val="15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  <a:p>
            <a:pPr marL="542925">
              <a:lnSpc>
                <a:spcPct val="100000"/>
              </a:lnSpc>
              <a:spcBef>
                <a:spcPts val="15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36" y="1193951"/>
            <a:ext cx="9853930" cy="5845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103505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Faça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uma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retângulo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contendo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atributos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base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e </a:t>
            </a:r>
            <a:r>
              <a:rPr dirty="0" sz="2800">
                <a:latin typeface="Arial MT"/>
                <a:cs typeface="Arial MT"/>
              </a:rPr>
              <a:t>altura,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pelo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menos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dois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construtores,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método </a:t>
            </a:r>
            <a:r>
              <a:rPr dirty="0" sz="2800">
                <a:latin typeface="Arial MT"/>
                <a:cs typeface="Arial MT"/>
              </a:rPr>
              <a:t>double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getArea()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retorna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área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retângulo,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método </a:t>
            </a:r>
            <a:r>
              <a:rPr dirty="0" sz="2800">
                <a:latin typeface="Arial MT"/>
                <a:cs typeface="Arial MT"/>
              </a:rPr>
              <a:t>double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getPerimetro()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retorna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perímetro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retângulo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e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double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getDiagonal()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retorna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diagonal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do </a:t>
            </a:r>
            <a:r>
              <a:rPr dirty="0" sz="2800" spc="-10">
                <a:latin typeface="Arial MT"/>
                <a:cs typeface="Arial MT"/>
              </a:rPr>
              <a:t>retângulo</a:t>
            </a:r>
            <a:endParaRPr sz="2800">
              <a:latin typeface="Arial MT"/>
              <a:cs typeface="Arial MT"/>
            </a:endParaRPr>
          </a:p>
          <a:p>
            <a:pPr marL="99695" marR="5080" indent="-87630">
              <a:lnSpc>
                <a:spcPct val="149900"/>
              </a:lnSpc>
              <a:spcBef>
                <a:spcPts val="56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Faça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também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uma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Lixao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contendo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main </a:t>
            </a:r>
            <a:r>
              <a:rPr dirty="0" sz="2800">
                <a:latin typeface="Arial MT"/>
                <a:cs typeface="Arial MT"/>
              </a:rPr>
              <a:t>sendo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esse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terá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dois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objetos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retângulo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chamará </a:t>
            </a:r>
            <a:r>
              <a:rPr dirty="0" sz="2800">
                <a:latin typeface="Arial MT"/>
                <a:cs typeface="Arial MT"/>
              </a:rPr>
              <a:t>os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desenvolvidos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retângulo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01800" y="676857"/>
            <a:ext cx="1905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Exercício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405406"/>
            <a:ext cx="7640320" cy="33070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 i="1">
                <a:latin typeface="Arial"/>
                <a:cs typeface="Arial"/>
              </a:rPr>
              <a:t>public</a:t>
            </a:r>
            <a:r>
              <a:rPr dirty="0" sz="2800" spc="-7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: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acessíveis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“dentro”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“fora”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 i="1">
                <a:latin typeface="Arial"/>
                <a:cs typeface="Arial"/>
              </a:rPr>
              <a:t>private</a:t>
            </a:r>
            <a:r>
              <a:rPr dirty="0" sz="2800" spc="-9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: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acessíveis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somente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“dentro”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Clr>
                <a:srgbClr val="000000"/>
              </a:buClr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Qual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é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vantagem</a:t>
            </a:r>
            <a:r>
              <a:rPr dirty="0" sz="28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Arial"/>
                <a:cs typeface="Arial"/>
              </a:rPr>
              <a:t>disso?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41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Visibilidade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036" y="1405406"/>
            <a:ext cx="6080760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>
                <a:latin typeface="Arial MT"/>
                <a:cs typeface="Arial MT"/>
              </a:rPr>
              <a:t>Ver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código</a:t>
            </a:r>
            <a:r>
              <a:rPr dirty="0" sz="2800" spc="-1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em: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800">
              <a:latin typeface="Arial MT"/>
              <a:cs typeface="Arial MT"/>
            </a:endParaRPr>
          </a:p>
          <a:p>
            <a:pPr marL="4036060">
              <a:lnSpc>
                <a:spcPct val="100000"/>
              </a:lnSpc>
            </a:pPr>
            <a:r>
              <a:rPr dirty="0" sz="2800" spc="-10">
                <a:solidFill>
                  <a:srgbClr val="3333CC"/>
                </a:solidFill>
                <a:latin typeface="Arial MT"/>
                <a:cs typeface="Arial MT"/>
              </a:rPr>
              <a:t>./visibilidade/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41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Visibilidade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5"/>
              <a:t>(</a:t>
            </a:r>
            <a:fld id="{81D60167-4931-47E6-BA6A-407CBD079E47}" type="slidenum">
              <a:rPr dirty="0" spc="-25"/>
              <a:t>2</a:t>
            </a:fld>
            <a:r>
              <a:rPr dirty="0" spc="-25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193951"/>
            <a:ext cx="9439275" cy="543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320675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Normalmente,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temos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i="1">
                <a:latin typeface="Arial"/>
                <a:cs typeface="Arial"/>
              </a:rPr>
              <a:t>get</a:t>
            </a:r>
            <a:r>
              <a:rPr dirty="0" sz="2800" spc="-55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i="1">
                <a:latin typeface="Arial"/>
                <a:cs typeface="Arial"/>
              </a:rPr>
              <a:t>set</a:t>
            </a:r>
            <a:r>
              <a:rPr dirty="0" sz="2800" spc="-55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para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cada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atributo privado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99695" marR="5080" indent="-87630">
              <a:lnSpc>
                <a:spcPct val="150300"/>
              </a:lnSpc>
              <a:spcBef>
                <a:spcPts val="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 b="1" i="1">
                <a:solidFill>
                  <a:srgbClr val="0000FF"/>
                </a:solidFill>
                <a:latin typeface="Arial"/>
                <a:cs typeface="Arial"/>
              </a:rPr>
              <a:t>get</a:t>
            </a:r>
            <a:r>
              <a:rPr dirty="0" sz="2800" spc="-10" i="1">
                <a:latin typeface="Arial"/>
                <a:cs typeface="Arial"/>
              </a:rPr>
              <a:t>NomeAtributo</a:t>
            </a:r>
            <a:r>
              <a:rPr dirty="0" sz="2800" spc="-8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retorna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conteúdo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atributo privado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99695" marR="261620" indent="-87630">
              <a:lnSpc>
                <a:spcPct val="150300"/>
              </a:lnSpc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 b="1" i="1">
                <a:solidFill>
                  <a:srgbClr val="0000FF"/>
                </a:solidFill>
                <a:latin typeface="Arial"/>
                <a:cs typeface="Arial"/>
              </a:rPr>
              <a:t>set</a:t>
            </a:r>
            <a:r>
              <a:rPr dirty="0" sz="2800" spc="-10" i="1">
                <a:latin typeface="Arial"/>
                <a:cs typeface="Arial"/>
              </a:rPr>
              <a:t>NomeAtributo</a:t>
            </a:r>
            <a:r>
              <a:rPr dirty="0" sz="2800" spc="-8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altera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conteúdo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atributo privado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47564" y="676857"/>
            <a:ext cx="365632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Métodos</a:t>
            </a:r>
            <a:r>
              <a:rPr dirty="0" spc="-10"/>
              <a:t> </a:t>
            </a:r>
            <a:r>
              <a:rPr dirty="0"/>
              <a:t>get</a:t>
            </a:r>
            <a:r>
              <a:rPr dirty="0" spc="-15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 spc="-25"/>
              <a:t>set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193951"/>
            <a:ext cx="9815195" cy="3368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5080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retorno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 b="1" i="1">
                <a:solidFill>
                  <a:srgbClr val="0000FF"/>
                </a:solidFill>
                <a:latin typeface="Arial"/>
                <a:cs typeface="Arial"/>
              </a:rPr>
              <a:t>get</a:t>
            </a:r>
            <a:r>
              <a:rPr dirty="0" sz="2800" spc="-10" i="1">
                <a:latin typeface="Arial"/>
                <a:cs typeface="Arial"/>
              </a:rPr>
              <a:t>NomeAtributo</a:t>
            </a:r>
            <a:r>
              <a:rPr dirty="0" sz="2800" spc="-65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é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mesmo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do </a:t>
            </a:r>
            <a:r>
              <a:rPr dirty="0" sz="2800">
                <a:latin typeface="Arial MT"/>
                <a:cs typeface="Arial MT"/>
              </a:rPr>
              <a:t>seu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atributo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esse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não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recebe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parâmetros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99695" marR="696595" indent="-87630">
              <a:lnSpc>
                <a:spcPct val="150300"/>
              </a:lnSpc>
              <a:spcBef>
                <a:spcPts val="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 b="1" i="1">
                <a:solidFill>
                  <a:srgbClr val="0000FF"/>
                </a:solidFill>
                <a:latin typeface="Arial"/>
                <a:cs typeface="Arial"/>
              </a:rPr>
              <a:t>set</a:t>
            </a:r>
            <a:r>
              <a:rPr dirty="0" sz="2800" spc="-10" i="1">
                <a:latin typeface="Arial"/>
                <a:cs typeface="Arial"/>
              </a:rPr>
              <a:t>NomeAtributo</a:t>
            </a:r>
            <a:r>
              <a:rPr dirty="0" sz="2800" spc="-75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retorna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i="1">
                <a:latin typeface="Arial"/>
                <a:cs typeface="Arial"/>
              </a:rPr>
              <a:t>void</a:t>
            </a:r>
            <a:r>
              <a:rPr dirty="0" sz="2800" spc="-8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ele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possui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um </a:t>
            </a:r>
            <a:r>
              <a:rPr dirty="0" sz="2800">
                <a:latin typeface="Arial MT"/>
                <a:cs typeface="Arial MT"/>
              </a:rPr>
              <a:t>parâmetro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entrada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cujo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tipo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é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mesmo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atributo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47564" y="676857"/>
            <a:ext cx="365632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Métodos</a:t>
            </a:r>
            <a:r>
              <a:rPr dirty="0" spc="-10"/>
              <a:t> </a:t>
            </a:r>
            <a:r>
              <a:rPr dirty="0"/>
              <a:t>get</a:t>
            </a:r>
            <a:r>
              <a:rPr dirty="0" spc="-15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 spc="-25"/>
              <a:t>set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193951"/>
            <a:ext cx="9834880" cy="2727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5080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77165" algn="l"/>
              </a:tabLst>
            </a:pPr>
            <a:r>
              <a:rPr dirty="0" sz="2800">
                <a:latin typeface="Arial MT"/>
                <a:cs typeface="Arial MT"/>
              </a:rPr>
              <a:t>	Atributos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estáticos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podem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ser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chamados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sem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que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objeto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seja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instanciado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(por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exemplo,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 i="1">
                <a:latin typeface="Arial"/>
                <a:cs typeface="Arial"/>
              </a:rPr>
              <a:t>IO.println</a:t>
            </a:r>
            <a:r>
              <a:rPr dirty="0" sz="2800" spc="-1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30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Clr>
                <a:srgbClr val="000000"/>
              </a:buClr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Qual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é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2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vantagem</a:t>
            </a:r>
            <a:r>
              <a:rPr dirty="0" sz="28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Arial"/>
                <a:cs typeface="Arial"/>
              </a:rPr>
              <a:t>disso?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55627" y="676857"/>
            <a:ext cx="1651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Estático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193951"/>
            <a:ext cx="9675495" cy="3368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5080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valor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atributos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estáticos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é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compartilhado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todos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os </a:t>
            </a:r>
            <a:r>
              <a:rPr dirty="0" sz="2800">
                <a:latin typeface="Arial MT"/>
                <a:cs typeface="Arial MT"/>
              </a:rPr>
              <a:t>objetos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99695" marR="636270" indent="-87630">
              <a:lnSpc>
                <a:spcPct val="150300"/>
              </a:lnSpc>
              <a:spcBef>
                <a:spcPts val="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Os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estáticos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acessam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somente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ou </a:t>
            </a:r>
            <a:r>
              <a:rPr dirty="0" sz="2800">
                <a:latin typeface="Arial MT"/>
                <a:cs typeface="Arial MT"/>
              </a:rPr>
              <a:t>atributos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estáticos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classe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55627" y="676857"/>
            <a:ext cx="1651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Estático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SzPct val="69642"/>
              <a:buFont typeface="Times New Roman"/>
              <a:buChar char="•"/>
              <a:tabLst>
                <a:tab pos="198120" algn="l"/>
              </a:tabLst>
            </a:pPr>
            <a:r>
              <a:rPr dirty="0"/>
              <a:t>Ver</a:t>
            </a:r>
            <a:r>
              <a:rPr dirty="0" spc="-155"/>
              <a:t> </a:t>
            </a:r>
            <a:r>
              <a:rPr dirty="0"/>
              <a:t>código</a:t>
            </a:r>
            <a:r>
              <a:rPr dirty="0" spc="-150"/>
              <a:t> </a:t>
            </a:r>
            <a:r>
              <a:rPr dirty="0" spc="-25"/>
              <a:t>em: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425"/>
              </a:spcBef>
            </a:pPr>
          </a:p>
          <a:p>
            <a:pPr algn="r" marR="5080">
              <a:lnSpc>
                <a:spcPct val="100000"/>
              </a:lnSpc>
            </a:pPr>
            <a:r>
              <a:rPr dirty="0" spc="-10">
                <a:solidFill>
                  <a:srgbClr val="3333CC"/>
                </a:solidFill>
              </a:rPr>
              <a:t>./estatico/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Estático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036" y="1193951"/>
            <a:ext cx="8924290" cy="3368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marR="5080" indent="-87630">
              <a:lnSpc>
                <a:spcPct val="149600"/>
              </a:lnSpc>
              <a:spcBef>
                <a:spcPts val="9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Explicita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um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método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atributo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pertence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objeto corrente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  <a:buFont typeface="Times New Roman"/>
              <a:buChar char="•"/>
            </a:pPr>
            <a:endParaRPr sz="2800">
              <a:latin typeface="Arial MT"/>
              <a:cs typeface="Arial MT"/>
            </a:endParaRPr>
          </a:p>
          <a:p>
            <a:pPr marL="99695" marR="261620" indent="-87630">
              <a:lnSpc>
                <a:spcPct val="150300"/>
              </a:lnSpc>
              <a:spcBef>
                <a:spcPts val="5"/>
              </a:spcBef>
              <a:buSzPct val="69642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2800">
                <a:latin typeface="Arial MT"/>
                <a:cs typeface="Arial MT"/>
              </a:rPr>
              <a:t>	Ele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também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pode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ser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utilizado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explicitar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objeto corrente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211958" y="676857"/>
            <a:ext cx="27959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Operador </a:t>
            </a:r>
            <a:r>
              <a:rPr dirty="0" spc="-20" i="1">
                <a:latin typeface="Arial"/>
                <a:cs typeface="Arial"/>
              </a:rPr>
              <a:t>this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0" y="1260475"/>
              <a:ext cx="10071100" cy="6012180"/>
            </a:xfrm>
            <a:custGeom>
              <a:avLst/>
              <a:gdLst/>
              <a:ahLst/>
              <a:cxnLst/>
              <a:rect l="l" t="t" r="r" b="b"/>
              <a:pathLst>
                <a:path w="10071100" h="6012180">
                  <a:moveTo>
                    <a:pt x="10071099" y="6011863"/>
                  </a:moveTo>
                  <a:lnTo>
                    <a:pt x="619" y="6011863"/>
                  </a:lnTo>
                  <a:lnTo>
                    <a:pt x="0" y="6011244"/>
                  </a:lnTo>
                  <a:lnTo>
                    <a:pt x="0" y="618"/>
                  </a:lnTo>
                  <a:lnTo>
                    <a:pt x="619" y="0"/>
                  </a:lnTo>
                  <a:lnTo>
                    <a:pt x="10071099" y="0"/>
                  </a:lnTo>
                  <a:lnTo>
                    <a:pt x="10071099" y="6011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Exemplo:</a:t>
            </a:r>
            <a:r>
              <a:rPr dirty="0" spc="-40"/>
              <a:t> </a:t>
            </a:r>
            <a:r>
              <a:rPr dirty="0"/>
              <a:t>Classe</a:t>
            </a:r>
            <a:r>
              <a:rPr dirty="0" spc="-35"/>
              <a:t> </a:t>
            </a:r>
            <a:r>
              <a:rPr dirty="0" spc="-10"/>
              <a:t>Retângulo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3563813"/>
            <a:ext cx="10071100" cy="1200785"/>
          </a:xfrm>
          <a:custGeom>
            <a:avLst/>
            <a:gdLst/>
            <a:ahLst/>
            <a:cxnLst/>
            <a:rect l="l" t="t" r="r" b="b"/>
            <a:pathLst>
              <a:path w="10071100" h="1200785">
                <a:moveTo>
                  <a:pt x="10071099" y="1200328"/>
                </a:moveTo>
                <a:lnTo>
                  <a:pt x="0" y="1200328"/>
                </a:lnTo>
                <a:lnTo>
                  <a:pt x="0" y="0"/>
                </a:lnTo>
                <a:lnTo>
                  <a:pt x="10071099" y="0"/>
                </a:lnTo>
                <a:lnTo>
                  <a:pt x="10071099" y="1200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77019" y="3570925"/>
            <a:ext cx="7722234" cy="1126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338070" marR="5080" indent="-2326005">
              <a:lnSpc>
                <a:spcPct val="100699"/>
              </a:lnSpc>
              <a:spcBef>
                <a:spcPts val="70"/>
              </a:spcBef>
            </a:pP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Ver</a:t>
            </a:r>
            <a:r>
              <a:rPr dirty="0" sz="3600" spc="-9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código</a:t>
            </a:r>
            <a:r>
              <a:rPr dirty="0" sz="3600" spc="-9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em:</a:t>
            </a:r>
            <a:r>
              <a:rPr dirty="0" sz="3600" spc="-9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LixaoRetangulo.java</a:t>
            </a:r>
            <a:r>
              <a:rPr dirty="0" sz="3600" spc="-9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3333CC"/>
                </a:solidFill>
                <a:latin typeface="Arial MT"/>
                <a:cs typeface="Arial MT"/>
              </a:rPr>
              <a:t>e </a:t>
            </a:r>
            <a:r>
              <a:rPr dirty="0" sz="3600" spc="-10">
                <a:solidFill>
                  <a:srgbClr val="3333CC"/>
                </a:solidFill>
                <a:latin typeface="Arial MT"/>
                <a:cs typeface="Arial MT"/>
              </a:rPr>
              <a:t>Retangulo.java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3" name="object 3" descr=""/>
            <p:cNvSpPr/>
            <p:nvPr/>
          </p:nvSpPr>
          <p:spPr>
            <a:xfrm>
              <a:off x="0" y="1260475"/>
              <a:ext cx="10071100" cy="6012180"/>
            </a:xfrm>
            <a:custGeom>
              <a:avLst/>
              <a:gdLst/>
              <a:ahLst/>
              <a:cxnLst/>
              <a:rect l="l" t="t" r="r" b="b"/>
              <a:pathLst>
                <a:path w="10071100" h="6012180">
                  <a:moveTo>
                    <a:pt x="10071099" y="6011863"/>
                  </a:moveTo>
                  <a:lnTo>
                    <a:pt x="619" y="6011863"/>
                  </a:lnTo>
                  <a:lnTo>
                    <a:pt x="0" y="6011244"/>
                  </a:lnTo>
                  <a:lnTo>
                    <a:pt x="0" y="618"/>
                  </a:lnTo>
                  <a:lnTo>
                    <a:pt x="619" y="0"/>
                  </a:lnTo>
                  <a:lnTo>
                    <a:pt x="10071099" y="0"/>
                  </a:lnTo>
                  <a:lnTo>
                    <a:pt x="10071099" y="6011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0950" y="7270762"/>
              <a:ext cx="7550150" cy="285750"/>
            </a:xfrm>
            <a:custGeom>
              <a:avLst/>
              <a:gdLst/>
              <a:ahLst/>
              <a:cxnLst/>
              <a:rect l="l" t="t" r="r" b="b"/>
              <a:pathLst>
                <a:path w="7550150" h="285750">
                  <a:moveTo>
                    <a:pt x="7550150" y="0"/>
                  </a:move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7550150" y="285737"/>
                  </a:lnTo>
                  <a:lnTo>
                    <a:pt x="7550150" y="1270"/>
                  </a:lnTo>
                  <a:lnTo>
                    <a:pt x="755015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2169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Exemplo:</a:t>
            </a:r>
            <a:r>
              <a:rPr dirty="0" spc="-40"/>
              <a:t> </a:t>
            </a:r>
            <a:r>
              <a:rPr dirty="0"/>
              <a:t>Classe</a:t>
            </a:r>
            <a:r>
              <a:rPr dirty="0" spc="-35"/>
              <a:t> </a:t>
            </a:r>
            <a:r>
              <a:rPr dirty="0" spc="-10"/>
              <a:t>Matriz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07853" y="137169"/>
            <a:ext cx="35553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563813"/>
            <a:ext cx="10071100" cy="646430"/>
          </a:xfrm>
          <a:custGeom>
            <a:avLst/>
            <a:gdLst/>
            <a:ahLst/>
            <a:cxnLst/>
            <a:rect l="l" t="t" r="r" b="b"/>
            <a:pathLst>
              <a:path w="10071100" h="646429">
                <a:moveTo>
                  <a:pt x="10071099" y="646330"/>
                </a:moveTo>
                <a:lnTo>
                  <a:pt x="0" y="646330"/>
                </a:lnTo>
                <a:lnTo>
                  <a:pt x="0" y="0"/>
                </a:lnTo>
                <a:lnTo>
                  <a:pt x="10071099" y="0"/>
                </a:lnTo>
                <a:lnTo>
                  <a:pt x="10071099" y="6463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334084" y="3570925"/>
            <a:ext cx="54089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Ver</a:t>
            </a:r>
            <a:r>
              <a:rPr dirty="0" sz="3600" spc="-9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código</a:t>
            </a:r>
            <a:r>
              <a:rPr dirty="0" sz="3600" spc="-9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333CC"/>
                </a:solidFill>
                <a:latin typeface="Arial MT"/>
                <a:cs typeface="Arial MT"/>
              </a:rPr>
              <a:t>em:</a:t>
            </a:r>
            <a:r>
              <a:rPr dirty="0" sz="3600" spc="-9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3333CC"/>
                </a:solidFill>
                <a:latin typeface="Arial MT"/>
                <a:cs typeface="Arial MT"/>
              </a:rPr>
              <a:t>Matriz.java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7853" y="137169"/>
            <a:ext cx="3555365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5" name="object 5" descr=""/>
            <p:cNvSpPr/>
            <p:nvPr/>
          </p:nvSpPr>
          <p:spPr>
            <a:xfrm>
              <a:off x="0" y="1260475"/>
              <a:ext cx="10071100" cy="6012180"/>
            </a:xfrm>
            <a:custGeom>
              <a:avLst/>
              <a:gdLst/>
              <a:ahLst/>
              <a:cxnLst/>
              <a:rect l="l" t="t" r="r" b="b"/>
              <a:pathLst>
                <a:path w="10071100" h="6012180">
                  <a:moveTo>
                    <a:pt x="10071099" y="6011863"/>
                  </a:moveTo>
                  <a:lnTo>
                    <a:pt x="619" y="6011863"/>
                  </a:lnTo>
                  <a:lnTo>
                    <a:pt x="0" y="6011244"/>
                  </a:lnTo>
                  <a:lnTo>
                    <a:pt x="0" y="618"/>
                  </a:lnTo>
                  <a:lnTo>
                    <a:pt x="619" y="0"/>
                  </a:lnTo>
                  <a:lnTo>
                    <a:pt x="10071099" y="0"/>
                  </a:lnTo>
                  <a:lnTo>
                    <a:pt x="10071099" y="6011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2036" y="676857"/>
            <a:ext cx="9935210" cy="6154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E6E6FF"/>
                </a:solidFill>
                <a:latin typeface="Arial MT"/>
                <a:cs typeface="Arial MT"/>
              </a:rPr>
              <a:t>Exercício</a:t>
            </a:r>
            <a:endParaRPr sz="3600">
              <a:latin typeface="Arial MT"/>
              <a:cs typeface="Arial MT"/>
            </a:endParaRPr>
          </a:p>
          <a:p>
            <a:pPr marL="99695" marR="9525" indent="-87630">
              <a:lnSpc>
                <a:spcPct val="201700"/>
              </a:lnSpc>
              <a:spcBef>
                <a:spcPts val="660"/>
              </a:spcBef>
              <a:buSzPct val="121875"/>
              <a:buFont typeface="Times New Roman"/>
              <a:buChar char="•"/>
              <a:tabLst>
                <a:tab pos="99695" algn="l"/>
                <a:tab pos="197485" algn="l"/>
              </a:tabLst>
            </a:pPr>
            <a:r>
              <a:rPr dirty="0" sz="1600">
                <a:latin typeface="Arial MT"/>
                <a:cs typeface="Arial MT"/>
              </a:rPr>
              <a:t>	Um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aluno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desenvolveu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classe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abaixo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pediu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ajuda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compilá-</a:t>
            </a:r>
            <a:r>
              <a:rPr dirty="0" sz="1600">
                <a:latin typeface="Arial MT"/>
                <a:cs typeface="Arial MT"/>
              </a:rPr>
              <a:t>la.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ajudar,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você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criar</a:t>
            </a:r>
            <a:r>
              <a:rPr dirty="0" sz="1600" spc="-25">
                <a:latin typeface="Arial MT"/>
                <a:cs typeface="Arial MT"/>
              </a:rPr>
              <a:t> uma </a:t>
            </a:r>
            <a:r>
              <a:rPr dirty="0" sz="1600">
                <a:latin typeface="Arial MT"/>
                <a:cs typeface="Arial MT"/>
              </a:rPr>
              <a:t>classe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Ponto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seguintes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regras:</a:t>
            </a:r>
            <a:endParaRPr sz="1600">
              <a:latin typeface="Arial MT"/>
              <a:cs typeface="Arial MT"/>
            </a:endParaRPr>
          </a:p>
          <a:p>
            <a:pPr lvl="1" marL="494030" indent="-228600">
              <a:lnSpc>
                <a:spcPct val="100000"/>
              </a:lnSpc>
              <a:spcBef>
                <a:spcPts val="1510"/>
              </a:spcBef>
              <a:buSzPct val="68750"/>
              <a:buFont typeface="Times New Roman"/>
              <a:buChar char="•"/>
              <a:tabLst>
                <a:tab pos="494030" algn="l"/>
              </a:tabLst>
            </a:pPr>
            <a:r>
              <a:rPr dirty="0" sz="1600">
                <a:latin typeface="Arial MT"/>
                <a:cs typeface="Arial MT"/>
              </a:rPr>
              <a:t>Quatro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privados: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double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x,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double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y,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nextID</a:t>
            </a:r>
            <a:endParaRPr sz="1600">
              <a:latin typeface="Arial MT"/>
              <a:cs typeface="Arial MT"/>
            </a:endParaRPr>
          </a:p>
          <a:p>
            <a:pPr lvl="1" marL="494030" indent="-228600">
              <a:lnSpc>
                <a:spcPct val="100000"/>
              </a:lnSpc>
              <a:spcBef>
                <a:spcPts val="1530"/>
              </a:spcBef>
              <a:buSzPct val="68750"/>
              <a:buFont typeface="Times New Roman"/>
              <a:buChar char="•"/>
              <a:tabLst>
                <a:tab pos="494030" algn="l"/>
              </a:tabLst>
            </a:pPr>
            <a:r>
              <a:rPr dirty="0" sz="1600">
                <a:latin typeface="Arial MT"/>
                <a:cs typeface="Arial MT"/>
              </a:rPr>
              <a:t>Os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nextID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serão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alterados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somente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método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construtor.</a:t>
            </a:r>
            <a:endParaRPr sz="1600">
              <a:latin typeface="Arial MT"/>
              <a:cs typeface="Arial MT"/>
            </a:endParaRPr>
          </a:p>
          <a:p>
            <a:pPr lvl="1" marL="494030" indent="-228600">
              <a:lnSpc>
                <a:spcPct val="100000"/>
              </a:lnSpc>
              <a:spcBef>
                <a:spcPts val="1530"/>
              </a:spcBef>
              <a:buSzPct val="68750"/>
              <a:buFont typeface="Times New Roman"/>
              <a:buChar char="•"/>
              <a:tabLst>
                <a:tab pos="494030" algn="l"/>
              </a:tabLst>
            </a:pPr>
            <a:r>
              <a:rPr dirty="0" sz="1600" spc="-10">
                <a:latin typeface="Arial MT"/>
                <a:cs typeface="Arial MT"/>
              </a:rPr>
              <a:t>Implemente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métodos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tanto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x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y</a:t>
            </a:r>
            <a:endParaRPr sz="1600">
              <a:latin typeface="Arial MT"/>
              <a:cs typeface="Arial MT"/>
            </a:endParaRPr>
          </a:p>
          <a:p>
            <a:pPr lvl="1" marL="437515" marR="234315" indent="-172720">
              <a:lnSpc>
                <a:spcPct val="149700"/>
              </a:lnSpc>
              <a:spcBef>
                <a:spcPts val="575"/>
              </a:spcBef>
              <a:buChar char="•"/>
              <a:tabLst>
                <a:tab pos="437515" algn="l"/>
                <a:tab pos="494030" algn="l"/>
              </a:tabLst>
            </a:pP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600">
                <a:latin typeface="Arial MT"/>
                <a:cs typeface="Arial MT"/>
              </a:rPr>
              <a:t>Na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declaração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nextID,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mesmo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receber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zero.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Além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disso,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alteração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valor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desse </a:t>
            </a:r>
            <a:r>
              <a:rPr dirty="0" sz="1600">
                <a:latin typeface="Arial MT"/>
                <a:cs typeface="Arial MT"/>
              </a:rPr>
              <a:t>atributo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objeto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sempre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será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compartilhada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qualquer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objeto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classe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</a:t>
            </a:r>
            <a:endParaRPr sz="1600">
              <a:latin typeface="Arial MT"/>
              <a:cs typeface="Arial MT"/>
            </a:endParaRPr>
          </a:p>
          <a:p>
            <a:pPr lvl="1" marL="437515" marR="62230" indent="-172720">
              <a:lnSpc>
                <a:spcPct val="149100"/>
              </a:lnSpc>
              <a:spcBef>
                <a:spcPts val="565"/>
              </a:spcBef>
              <a:buChar char="•"/>
              <a:tabLst>
                <a:tab pos="437515" algn="l"/>
                <a:tab pos="494030" algn="l"/>
              </a:tabLst>
            </a:pP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Arial MT"/>
                <a:cs typeface="Arial MT"/>
              </a:rPr>
              <a:t>Implemente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dois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construtores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sendo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primeiro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não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recebe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parâmetros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inicializa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valores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x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e </a:t>
            </a:r>
            <a:r>
              <a:rPr dirty="0" sz="1600">
                <a:latin typeface="Arial MT"/>
                <a:cs typeface="Arial MT"/>
              </a:rPr>
              <a:t>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zero.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segundo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recebe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dois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parâmetros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(cujos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nomes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são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obrigatoriamente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x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y)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devem</a:t>
            </a:r>
            <a:r>
              <a:rPr dirty="0" sz="1600" spc="-25">
                <a:latin typeface="Arial MT"/>
                <a:cs typeface="Arial MT"/>
              </a:rPr>
              <a:t> ser </a:t>
            </a:r>
            <a:r>
              <a:rPr dirty="0" sz="1600">
                <a:latin typeface="Arial MT"/>
                <a:cs typeface="Arial MT"/>
              </a:rPr>
              <a:t>utilizados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inicializar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valores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x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y,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respectivamente</a:t>
            </a:r>
            <a:endParaRPr sz="1600">
              <a:latin typeface="Arial MT"/>
              <a:cs typeface="Arial MT"/>
            </a:endParaRPr>
          </a:p>
          <a:p>
            <a:pPr lvl="1" marL="437515" marR="400685" indent="-172720">
              <a:lnSpc>
                <a:spcPct val="149700"/>
              </a:lnSpc>
              <a:spcBef>
                <a:spcPts val="550"/>
              </a:spcBef>
              <a:buChar char="•"/>
              <a:tabLst>
                <a:tab pos="437515" algn="l"/>
                <a:tab pos="494030" algn="l"/>
              </a:tabLst>
            </a:pP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600">
                <a:latin typeface="Arial MT"/>
                <a:cs typeface="Arial MT"/>
              </a:rPr>
              <a:t>Os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dois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construtores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devem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atribuir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valor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corrente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nextID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atributo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incrementar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o </a:t>
            </a:r>
            <a:r>
              <a:rPr dirty="0" sz="1600">
                <a:latin typeface="Arial MT"/>
                <a:cs typeface="Arial MT"/>
              </a:rPr>
              <a:t>valor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nextID.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Observe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cada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objeto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terá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um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distinto</a:t>
            </a:r>
            <a:endParaRPr sz="1600">
              <a:latin typeface="Arial MT"/>
              <a:cs typeface="Arial MT"/>
            </a:endParaRPr>
          </a:p>
          <a:p>
            <a:pPr lvl="1" marL="494030" indent="-228600">
              <a:lnSpc>
                <a:spcPct val="100000"/>
              </a:lnSpc>
              <a:spcBef>
                <a:spcPts val="1505"/>
              </a:spcBef>
              <a:buSzPct val="68750"/>
              <a:buFont typeface="Times New Roman"/>
              <a:buChar char="•"/>
              <a:tabLst>
                <a:tab pos="494030" algn="l"/>
              </a:tabLst>
            </a:pPr>
            <a:r>
              <a:rPr dirty="0" sz="1600" spc="-10">
                <a:latin typeface="Arial MT"/>
                <a:cs typeface="Arial MT"/>
              </a:rPr>
              <a:t>Implemente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qualquer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método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seja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necessário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compilar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classe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LixaoPonto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10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040630" cy="576580"/>
          </a:xfrm>
          <a:custGeom>
            <a:avLst/>
            <a:gdLst/>
            <a:ahLst/>
            <a:cxnLst/>
            <a:rect l="l" t="t" r="r" b="b"/>
            <a:pathLst>
              <a:path w="5040630" h="576580">
                <a:moveTo>
                  <a:pt x="5038904" y="576262"/>
                </a:moveTo>
                <a:lnTo>
                  <a:pt x="1408" y="576262"/>
                </a:lnTo>
                <a:lnTo>
                  <a:pt x="0" y="574854"/>
                </a:lnTo>
                <a:lnTo>
                  <a:pt x="0" y="3146"/>
                </a:lnTo>
                <a:lnTo>
                  <a:pt x="0" y="1408"/>
                </a:lnTo>
                <a:lnTo>
                  <a:pt x="1408" y="0"/>
                </a:lnTo>
                <a:lnTo>
                  <a:pt x="5038001" y="0"/>
                </a:lnTo>
                <a:lnTo>
                  <a:pt x="5038801" y="331"/>
                </a:lnTo>
                <a:lnTo>
                  <a:pt x="5039981" y="1511"/>
                </a:lnTo>
                <a:lnTo>
                  <a:pt x="5040313" y="2311"/>
                </a:lnTo>
                <a:lnTo>
                  <a:pt x="5040313" y="574854"/>
                </a:lnTo>
                <a:lnTo>
                  <a:pt x="5038904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7853" y="137169"/>
            <a:ext cx="3555365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Introdução</a:t>
            </a:r>
            <a:r>
              <a:rPr dirty="0" sz="1600" spc="-30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Orientação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6E6E6"/>
                </a:solidFill>
                <a:latin typeface="Arial"/>
                <a:cs typeface="Arial"/>
              </a:rPr>
              <a:t>por</a:t>
            </a:r>
            <a:r>
              <a:rPr dirty="0" sz="1600" spc="-25" b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E6E6E6"/>
                </a:solidFill>
                <a:latin typeface="Arial"/>
                <a:cs typeface="Arial"/>
              </a:rPr>
              <a:t>Objetos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260475"/>
            <a:ext cx="10071100" cy="6012180"/>
          </a:xfrm>
          <a:custGeom>
            <a:avLst/>
            <a:gdLst/>
            <a:ahLst/>
            <a:cxnLst/>
            <a:rect l="l" t="t" r="r" b="b"/>
            <a:pathLst>
              <a:path w="10071100" h="6012180">
                <a:moveTo>
                  <a:pt x="10071099" y="6011863"/>
                </a:moveTo>
                <a:lnTo>
                  <a:pt x="619" y="6011863"/>
                </a:lnTo>
                <a:lnTo>
                  <a:pt x="0" y="6011244"/>
                </a:lnTo>
                <a:lnTo>
                  <a:pt x="0" y="618"/>
                </a:lnTo>
                <a:lnTo>
                  <a:pt x="619" y="0"/>
                </a:lnTo>
                <a:lnTo>
                  <a:pt x="10071099" y="0"/>
                </a:lnTo>
                <a:lnTo>
                  <a:pt x="10071099" y="6011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57938" y="1446173"/>
            <a:ext cx="7770495" cy="513715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600" b="1">
                <a:latin typeface="Arial"/>
                <a:cs typeface="Arial"/>
              </a:rPr>
              <a:t>class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LixaoPonto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828040" marR="4002404" indent="-576580">
              <a:lnSpc>
                <a:spcPct val="128899"/>
              </a:lnSpc>
              <a:spcBef>
                <a:spcPts val="325"/>
              </a:spcBef>
            </a:pPr>
            <a:r>
              <a:rPr dirty="0" sz="1600" b="1">
                <a:latin typeface="Arial"/>
                <a:cs typeface="Arial"/>
              </a:rPr>
              <a:t>public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static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void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main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(String[]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args){ </a:t>
            </a:r>
            <a:r>
              <a:rPr dirty="0" sz="1600">
                <a:latin typeface="Arial MT"/>
                <a:cs typeface="Arial MT"/>
              </a:rPr>
              <a:t>Ponto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p1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b="1">
                <a:latin typeface="Arial"/>
                <a:cs typeface="Arial"/>
              </a:rPr>
              <a:t>new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Ponto(4,3); </a:t>
            </a:r>
            <a:r>
              <a:rPr dirty="0" sz="1600">
                <a:latin typeface="Arial MT"/>
                <a:cs typeface="Arial MT"/>
              </a:rPr>
              <a:t>Ponto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p2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b="1">
                <a:latin typeface="Arial"/>
                <a:cs typeface="Arial"/>
              </a:rPr>
              <a:t>new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Ponto(8,5); </a:t>
            </a:r>
            <a:r>
              <a:rPr dirty="0" sz="1600">
                <a:latin typeface="Arial MT"/>
                <a:cs typeface="Arial MT"/>
              </a:rPr>
              <a:t>Ponto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p3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b="1">
                <a:latin typeface="Arial"/>
                <a:cs typeface="Arial"/>
              </a:rPr>
              <a:t>new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Ponto(9.2,10);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>
              <a:latin typeface="Arial MT"/>
              <a:cs typeface="Arial MT"/>
            </a:endParaRPr>
          </a:p>
          <a:p>
            <a:pPr marL="828040" marR="5080">
              <a:lnSpc>
                <a:spcPct val="128899"/>
              </a:lnSpc>
            </a:pPr>
            <a:r>
              <a:rPr dirty="0" sz="1600" spc="-10">
                <a:latin typeface="Arial MT"/>
                <a:cs typeface="Arial MT"/>
              </a:rPr>
              <a:t>System.out.println("Distancia</a:t>
            </a:r>
            <a:r>
              <a:rPr dirty="0" sz="1600">
                <a:latin typeface="Arial MT"/>
                <a:cs typeface="Arial MT"/>
              </a:rPr>
              <a:t> p1 entre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 p2: "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 </a:t>
            </a:r>
            <a:r>
              <a:rPr dirty="0" sz="1600" spc="-10">
                <a:latin typeface="Arial MT"/>
                <a:cs typeface="Arial MT"/>
              </a:rPr>
              <a:t>p1.dist(p2)); System.out.println("Distancia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p1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entre e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(5,2): "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 </a:t>
            </a:r>
            <a:r>
              <a:rPr dirty="0" sz="1600" spc="-10">
                <a:latin typeface="Arial MT"/>
                <a:cs typeface="Arial MT"/>
              </a:rPr>
              <a:t>p1.dist(5,2)); System.out.println("Distancia </a:t>
            </a:r>
            <a:r>
              <a:rPr dirty="0" sz="1600">
                <a:latin typeface="Arial MT"/>
                <a:cs typeface="Arial MT"/>
              </a:rPr>
              <a:t>(4,3)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entre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(5,2):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"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10">
                <a:latin typeface="Arial MT"/>
                <a:cs typeface="Arial MT"/>
              </a:rPr>
              <a:t> Ponto.dist(4,3,5,2)); System.out.println("P1,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P2,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P3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triangulo:"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Ponto.isTriangulo(p1,p2,p3)); System.out.println("Area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retangulo:"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p1.getAreaRetangulo(p2)); System.out.println("ID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P1: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"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p1.getID());</a:t>
            </a:r>
            <a:endParaRPr sz="1600">
              <a:latin typeface="Arial MT"/>
              <a:cs typeface="Arial MT"/>
            </a:endParaRPr>
          </a:p>
          <a:p>
            <a:pPr marL="828040" marR="2332355">
              <a:lnSpc>
                <a:spcPct val="128899"/>
              </a:lnSpc>
            </a:pPr>
            <a:r>
              <a:rPr dirty="0" sz="1600" spc="-10">
                <a:latin typeface="Arial MT"/>
                <a:cs typeface="Arial MT"/>
              </a:rPr>
              <a:t>System.out.println("ID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P2: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"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p2.getID()); System.out.println("ID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P3: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"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p3.getID()); System.out.println("Next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ID: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"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Ponto.getNextID());</a:t>
            </a:r>
            <a:endParaRPr sz="1600">
              <a:latin typeface="Arial MT"/>
              <a:cs typeface="Arial MT"/>
            </a:endParaRPr>
          </a:p>
          <a:p>
            <a:pPr marL="251460">
              <a:lnSpc>
                <a:spcPct val="100000"/>
              </a:lnSpc>
              <a:spcBef>
                <a:spcPts val="555"/>
              </a:spcBef>
            </a:pPr>
            <a:r>
              <a:rPr dirty="0" sz="1600" spc="-5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0071100" cy="7556500"/>
            <a:chOff x="0" y="0"/>
            <a:chExt cx="10071100" cy="7556500"/>
          </a:xfrm>
        </p:grpSpPr>
        <p:sp>
          <p:nvSpPr>
            <p:cNvPr id="7" name="object 7" descr=""/>
            <p:cNvSpPr/>
            <p:nvPr/>
          </p:nvSpPr>
          <p:spPr>
            <a:xfrm>
              <a:off x="0" y="7270762"/>
              <a:ext cx="2520950" cy="285750"/>
            </a:xfrm>
            <a:custGeom>
              <a:avLst/>
              <a:gdLst/>
              <a:ahLst/>
              <a:cxnLst/>
              <a:rect l="l" t="t" r="r" b="b"/>
              <a:pathLst>
                <a:path w="2520950" h="285750">
                  <a:moveTo>
                    <a:pt x="2520950" y="1270"/>
                  </a:moveTo>
                  <a:lnTo>
                    <a:pt x="2520658" y="1270"/>
                  </a:lnTo>
                  <a:lnTo>
                    <a:pt x="2520658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285737"/>
                  </a:lnTo>
                  <a:lnTo>
                    <a:pt x="2520950" y="285737"/>
                  </a:lnTo>
                  <a:lnTo>
                    <a:pt x="252095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10071100" cy="1279525"/>
            </a:xfrm>
            <a:custGeom>
              <a:avLst/>
              <a:gdLst/>
              <a:ahLst/>
              <a:cxnLst/>
              <a:rect l="l" t="t" r="r" b="b"/>
              <a:pathLst>
                <a:path w="10071100" h="1279525">
                  <a:moveTo>
                    <a:pt x="10071100" y="0"/>
                  </a:moveTo>
                  <a:lnTo>
                    <a:pt x="5038788" y="0"/>
                  </a:lnTo>
                  <a:lnTo>
                    <a:pt x="5038788" y="1282"/>
                  </a:lnTo>
                  <a:lnTo>
                    <a:pt x="5038725" y="558787"/>
                  </a:lnTo>
                  <a:lnTo>
                    <a:pt x="381" y="558787"/>
                  </a:lnTo>
                  <a:lnTo>
                    <a:pt x="0" y="559181"/>
                  </a:lnTo>
                  <a:lnTo>
                    <a:pt x="0" y="1279131"/>
                  </a:lnTo>
                  <a:lnTo>
                    <a:pt x="381" y="1279512"/>
                  </a:lnTo>
                  <a:lnTo>
                    <a:pt x="10071100" y="1279512"/>
                  </a:lnTo>
                  <a:lnTo>
                    <a:pt x="10071100" y="576592"/>
                  </a:lnTo>
                  <a:lnTo>
                    <a:pt x="10071100" y="575322"/>
                  </a:lnTo>
                  <a:lnTo>
                    <a:pt x="10071100" y="558787"/>
                  </a:lnTo>
                  <a:lnTo>
                    <a:pt x="10071100" y="1282"/>
                  </a:lnTo>
                  <a:lnTo>
                    <a:pt x="10071100" y="0"/>
                  </a:lnTo>
                  <a:close/>
                </a:path>
              </a:pathLst>
            </a:custGeom>
            <a:solidFill>
              <a:srgbClr val="2323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101800" y="676857"/>
            <a:ext cx="1905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E6E6FF"/>
                </a:solidFill>
                <a:latin typeface="Arial MT"/>
                <a:cs typeface="Arial MT"/>
              </a:rPr>
              <a:t>Exercício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520950" y="7270762"/>
            <a:ext cx="7550150" cy="285750"/>
          </a:xfrm>
          <a:custGeom>
            <a:avLst/>
            <a:gdLst/>
            <a:ahLst/>
            <a:cxnLst/>
            <a:rect l="l" t="t" r="r" b="b"/>
            <a:pathLst>
              <a:path w="7550150" h="285750">
                <a:moveTo>
                  <a:pt x="7550150" y="0"/>
                </a:moveTo>
                <a:lnTo>
                  <a:pt x="63" y="0"/>
                </a:lnTo>
                <a:lnTo>
                  <a:pt x="63" y="1270"/>
                </a:lnTo>
                <a:lnTo>
                  <a:pt x="0" y="285737"/>
                </a:lnTo>
                <a:lnTo>
                  <a:pt x="7550150" y="285737"/>
                </a:lnTo>
                <a:lnTo>
                  <a:pt x="7550150" y="1270"/>
                </a:lnTo>
                <a:lnTo>
                  <a:pt x="7550150" y="0"/>
                </a:lnTo>
                <a:close/>
              </a:path>
            </a:pathLst>
          </a:custGeom>
          <a:solidFill>
            <a:srgbClr val="2323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03617" y="6647402"/>
            <a:ext cx="93345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5039" y="7299566"/>
            <a:ext cx="168338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>
                <a:solidFill>
                  <a:srgbClr val="E6E6E6"/>
                </a:solidFill>
                <a:latin typeface="Arial MT"/>
                <a:cs typeface="Arial MT"/>
              </a:rPr>
              <a:t>---------------------------</a:t>
            </a:r>
            <a:r>
              <a:rPr dirty="0" sz="1400" spc="-50">
                <a:solidFill>
                  <a:srgbClr val="E6E6E6"/>
                </a:solidFill>
                <a:latin typeface="Arial MT"/>
                <a:cs typeface="Arial MT"/>
              </a:rPr>
              <a:t>-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/>
              <a:t>Algoritmos</a:t>
            </a:r>
            <a:r>
              <a:rPr dirty="0" spc="-20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/>
              <a:t>Estruturas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Dados</a:t>
            </a:r>
            <a:r>
              <a:rPr dirty="0" spc="-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 spc="-20"/>
              <a:t>(</a:t>
            </a:r>
            <a:fld id="{81D60167-4931-47E6-BA6A-407CBD079E47}" type="slidenum">
              <a:rPr dirty="0" spc="-20"/>
              <a:t>19</a:t>
            </a:fld>
            <a:r>
              <a:rPr dirty="0" spc="-2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unidade00l_nivelamento_introducaoOO</dc:title>
  <dcterms:created xsi:type="dcterms:W3CDTF">2026-04-13T14:59:43Z</dcterms:created>
  <dcterms:modified xsi:type="dcterms:W3CDTF">2026-04-13T14:59:43Z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2026-04-13T00:00:00Z</vt:filetime>
  </property>
</Properties>
</file>